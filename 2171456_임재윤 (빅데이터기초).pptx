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7" r:id="rId5"/>
    <p:sldId id="259" r:id="rId6"/>
    <p:sldId id="264" r:id="rId7"/>
    <p:sldId id="260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19E9-FA59-422C-9DA3-3C890226CF9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0DD7A-A5E7-4E9C-95F2-B5A249142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57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0DD7A-A5E7-4E9C-95F2-B5A249142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40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22D8FA-8A86-C176-3105-23A9F8937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BA2BE8-2BE4-9468-8C60-CC368F32F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EA7FFE-CA74-E274-391D-2DB6FBF1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78BE10-482D-C467-957E-A828ED68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4AE74A-DE9C-3782-7FC8-DDD8580C8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77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195ACC-B792-1D45-BB76-E6F9C936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7FC61C-8FF2-875C-D2B5-29A302153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756EC0-EB15-C252-FC88-DC70CD7F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79B672-B9C9-79F6-5CE0-32301C9A1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CCEDF5-B534-C405-7000-00966984F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98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6A74B-251D-6818-9CA2-15FDA2AC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DE1943-EAA5-A714-713C-5C4029DA2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32430E-CE4A-2F61-7F4C-5FB88CECA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12F94-9A42-9A0B-19C8-0F37A99B9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C2F4DD-A8BE-8111-C6AC-07405FB8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61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0C767-5185-A5E1-C0F5-4A4EA5AC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C7543-18C0-B524-53F2-BD10B6C40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6254D6-FC84-2074-9190-43988A203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8946DE-243E-6D7A-1B00-6FE27EC24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D53879-A1FE-65AD-05A1-F6A3B0ED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EE411D-A1E6-D02A-41D6-7C6E543C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19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95053-794D-8DC0-3211-0A105ADB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C25DBD-33AB-A539-424D-5943F7699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CCCA9A-0ACB-1A7F-764E-F69D771AD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5DF871-8B38-1DB3-CC53-EE940D5E3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A7AC26-69F2-2A6F-FFA5-B3B73307F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733ECF-2E10-5725-F8DE-3D82E2E9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8169E5-F1B3-06B3-6CE6-55323B85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B80CAD-5ED3-0823-344B-0DC5CBFD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7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AC9A9-1C92-63F6-FC35-4CB6C9FD7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C56FBE-A399-BB2F-1204-93DA86275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A35D1F-940B-3B1B-DC63-10CF44B9A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1FED51-3A44-337E-C27B-247310016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587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17F2FB-95BB-B3DD-FFA9-DB4A2F986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995571-5100-2CC1-6932-5C98D88D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B69528-515E-A10F-467C-D34D063C1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46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1CB06-66D9-D150-3B5E-5DA906AC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D59993-A9DE-3EEF-7FCE-0A3FB5F65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94F78E-63C5-E4A3-E181-125D95B6E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45FA0D-68EC-7887-18EF-795A61F8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57FAE6-A296-1B5F-A0F2-DDA4BA60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FC610D-64D1-0BAF-DE32-F1B9C2F0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746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42AC7-32E1-0754-0ED3-42E451850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170AF2-050B-65AE-4358-DDABC75A0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331F9C-36B1-75B8-F972-99F8F17B2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BB8EDE-4CA6-188C-9191-24F26B200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D10991-AB1D-58AE-E128-38BA9F229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1D4232-E72B-DC6A-A2B4-F51E3862E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025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59A5C-76F8-D916-F4A5-EC91F445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676696-4CD6-78F9-458E-266BCFFDC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C28EB2-BEEA-E804-7755-A252560C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54E829-BC11-4B1B-8B89-44F144C8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C18FC-54AC-7199-1D98-31F72CC8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44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61B55B-5314-D608-C43F-61D7EAC43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01582F-1269-F4CB-72CE-59C332964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E1A1B0-2728-DB8D-5BEF-8E116F6F1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C0D93-DBCB-4A53-46FC-E26CE76A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7D6483-5F9F-FB67-1F86-5E3CFF5A0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12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F89F14-1350-7920-A8AF-AFA3FA941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678CBE-756F-24D2-9BA5-7AEE98098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B2E8AF-E16B-ADC5-E215-6789E5C81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500E8-A5F0-46E8-B151-5F898706B4E0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7923B7-62FD-A316-39EC-754F0EC62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D02EB-8C3C-5C67-F278-8E1DFA594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48EFA-7CF2-4B49-B47C-20FB1B287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02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data.go.kr/index.d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B4737164-D793-07D6-822A-E7B312B5923B}"/>
              </a:ext>
            </a:extLst>
          </p:cNvPr>
          <p:cNvSpPr/>
          <p:nvPr/>
        </p:nvSpPr>
        <p:spPr>
          <a:xfrm>
            <a:off x="117764" y="150090"/>
            <a:ext cx="2326646" cy="884382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목표 설정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FD169591-73D1-5F04-1ACD-B3396ACC3792}"/>
              </a:ext>
            </a:extLst>
          </p:cNvPr>
          <p:cNvSpPr/>
          <p:nvPr/>
        </p:nvSpPr>
        <p:spPr>
          <a:xfrm>
            <a:off x="10374885" y="150090"/>
            <a:ext cx="1699351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도입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651948E5-005E-8DE5-71BF-721630DB2511}"/>
              </a:ext>
            </a:extLst>
          </p:cNvPr>
          <p:cNvSpPr/>
          <p:nvPr/>
        </p:nvSpPr>
        <p:spPr>
          <a:xfrm>
            <a:off x="7785634" y="150091"/>
            <a:ext cx="2848534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분석 및 평가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81E56AC3-F152-981A-1699-831BD85322A0}"/>
              </a:ext>
            </a:extLst>
          </p:cNvPr>
          <p:cNvSpPr/>
          <p:nvPr/>
        </p:nvSpPr>
        <p:spPr>
          <a:xfrm>
            <a:off x="6039630" y="150091"/>
            <a:ext cx="200528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</a:rPr>
              <a:t>전처리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5C9B6471-822F-C7B5-E19D-909B6E397FA2}"/>
              </a:ext>
            </a:extLst>
          </p:cNvPr>
          <p:cNvSpPr/>
          <p:nvPr/>
        </p:nvSpPr>
        <p:spPr>
          <a:xfrm>
            <a:off x="4599562" y="150091"/>
            <a:ext cx="1699350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저장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7E505037-68A1-A6EE-E6D0-BCDDEA0DD055}"/>
              </a:ext>
            </a:extLst>
          </p:cNvPr>
          <p:cNvSpPr/>
          <p:nvPr/>
        </p:nvSpPr>
        <p:spPr>
          <a:xfrm>
            <a:off x="2185128" y="150091"/>
            <a:ext cx="267371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데이터 수집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35C132-EB1D-6EAF-4E29-713C8ACB041C}"/>
              </a:ext>
            </a:extLst>
          </p:cNvPr>
          <p:cNvSpPr txBox="1"/>
          <p:nvPr/>
        </p:nvSpPr>
        <p:spPr>
          <a:xfrm>
            <a:off x="312796" y="1302327"/>
            <a:ext cx="1176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현대 사회 속에서 모두 바쁜 삶을 살다 보니</a:t>
            </a:r>
            <a:r>
              <a:rPr lang="en-US" altLang="ko-KR" dirty="0"/>
              <a:t>, </a:t>
            </a:r>
            <a:r>
              <a:rPr lang="ko-KR" altLang="en-US" dirty="0"/>
              <a:t>많은 사람들이 우울증</a:t>
            </a:r>
            <a:r>
              <a:rPr lang="en-US" altLang="ko-KR" dirty="0"/>
              <a:t> </a:t>
            </a:r>
            <a:r>
              <a:rPr lang="ko-KR" altLang="en-US" dirty="0"/>
              <a:t>등의 정신질환을 앓고 있다</a:t>
            </a:r>
            <a:r>
              <a:rPr lang="en-US" altLang="ko-KR" dirty="0"/>
              <a:t>. </a:t>
            </a:r>
            <a:r>
              <a:rPr lang="ko-KR" altLang="en-US" dirty="0"/>
              <a:t>이를 줄이기 위해서 각 지병을 구분으로</a:t>
            </a:r>
            <a:r>
              <a:rPr lang="ko-KR" altLang="en-US" i="0" dirty="0">
                <a:effectLst/>
                <a:latin typeface="system-ui"/>
              </a:rPr>
              <a:t> 환자수 총합을 년도별로 표시하여 분석하려고 한다</a:t>
            </a:r>
            <a:r>
              <a:rPr lang="en-US" altLang="ko-KR" i="0" dirty="0">
                <a:effectLst/>
                <a:latin typeface="system-ui"/>
              </a:rPr>
              <a:t>.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C27F83B-266E-DD11-64C5-2813091A5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1" y="2033178"/>
            <a:ext cx="6347917" cy="44964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C1C171-EB5D-AE21-E4E6-171D402F5F10}"/>
              </a:ext>
            </a:extLst>
          </p:cNvPr>
          <p:cNvSpPr txBox="1"/>
          <p:nvPr/>
        </p:nvSpPr>
        <p:spPr>
          <a:xfrm>
            <a:off x="7428345" y="5052291"/>
            <a:ext cx="46458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사진 출처 </a:t>
            </a:r>
            <a:r>
              <a:rPr lang="en-US" altLang="ko-KR" dirty="0"/>
              <a:t>:</a:t>
            </a:r>
            <a:r>
              <a:rPr lang="ko-KR" altLang="en-US" dirty="0"/>
              <a:t>보건복지부 국립정신건강센터</a:t>
            </a:r>
            <a:r>
              <a:rPr lang="en-US" altLang="ko-KR" dirty="0"/>
              <a:t> https://www.ncmh.go.kr/ncmh/board/boardView.do?no=9449&amp;fno=37&amp;menu_cd=01_01&amp;bn=newsView&amp;search_item=&amp;search_content=&amp;pageIndex=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2214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8FC5B-58B9-C15F-A8BB-EB7421117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45FFEE17-9651-246E-F0DE-77C702CD02CD}"/>
              </a:ext>
            </a:extLst>
          </p:cNvPr>
          <p:cNvSpPr/>
          <p:nvPr/>
        </p:nvSpPr>
        <p:spPr>
          <a:xfrm>
            <a:off x="117764" y="150090"/>
            <a:ext cx="232664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목표 설정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6656BBE9-08D7-B506-0F19-35D5ADB3161E}"/>
              </a:ext>
            </a:extLst>
          </p:cNvPr>
          <p:cNvSpPr/>
          <p:nvPr/>
        </p:nvSpPr>
        <p:spPr>
          <a:xfrm>
            <a:off x="10374885" y="150090"/>
            <a:ext cx="1699351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도입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B0E98F5A-C017-0A73-0118-1B283860E25F}"/>
              </a:ext>
            </a:extLst>
          </p:cNvPr>
          <p:cNvSpPr/>
          <p:nvPr/>
        </p:nvSpPr>
        <p:spPr>
          <a:xfrm>
            <a:off x="7785634" y="150091"/>
            <a:ext cx="2848534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분석 및 평가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134D1647-61F6-9C00-F02E-4B2B484979C4}"/>
              </a:ext>
            </a:extLst>
          </p:cNvPr>
          <p:cNvSpPr/>
          <p:nvPr/>
        </p:nvSpPr>
        <p:spPr>
          <a:xfrm>
            <a:off x="6039630" y="150091"/>
            <a:ext cx="200528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</a:rPr>
              <a:t>전처리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D6FCB5BC-32FC-8C36-BBD9-309BD2D692EA}"/>
              </a:ext>
            </a:extLst>
          </p:cNvPr>
          <p:cNvSpPr/>
          <p:nvPr/>
        </p:nvSpPr>
        <p:spPr>
          <a:xfrm>
            <a:off x="4599562" y="150091"/>
            <a:ext cx="1699350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저장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1A343473-5202-DD8F-7B9A-EA6357EDA05F}"/>
              </a:ext>
            </a:extLst>
          </p:cNvPr>
          <p:cNvSpPr/>
          <p:nvPr/>
        </p:nvSpPr>
        <p:spPr>
          <a:xfrm>
            <a:off x="2185128" y="150091"/>
            <a:ext cx="2673716" cy="884382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데이터 수집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B4AFEC-073B-A1AD-35C5-60A96D028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34" y="4642264"/>
            <a:ext cx="11517332" cy="216247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A201322-D1E9-E90B-28BA-5CDD5144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33" y="1290198"/>
            <a:ext cx="6226306" cy="334513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A50124-98BF-1355-5172-7CCF780431C7}"/>
              </a:ext>
            </a:extLst>
          </p:cNvPr>
          <p:cNvSpPr txBox="1"/>
          <p:nvPr/>
        </p:nvSpPr>
        <p:spPr>
          <a:xfrm>
            <a:off x="7785634" y="2039437"/>
            <a:ext cx="36843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 err="1"/>
              <a:t>공공데이터포털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>
                <a:hlinkClick r:id="rId4"/>
              </a:rPr>
              <a:t>https://www.data.go.kr/index.do</a:t>
            </a:r>
            <a:r>
              <a:rPr lang="en-US" altLang="ko-KR" dirty="0"/>
              <a:t>) </a:t>
            </a:r>
            <a:r>
              <a:rPr lang="ko-KR" altLang="en-US" dirty="0"/>
              <a:t>검색어로 </a:t>
            </a:r>
            <a:r>
              <a:rPr lang="en-US" altLang="ko-KR" dirty="0"/>
              <a:t>‘</a:t>
            </a:r>
            <a:r>
              <a:rPr lang="ko-KR" altLang="en-US" dirty="0"/>
              <a:t>정신질환</a:t>
            </a:r>
            <a:r>
              <a:rPr lang="en-US" altLang="ko-KR" dirty="0"/>
              <a:t>‘ </a:t>
            </a:r>
            <a:r>
              <a:rPr lang="ko-KR" altLang="en-US" dirty="0"/>
              <a:t>검색</a:t>
            </a:r>
          </a:p>
        </p:txBody>
      </p:sp>
    </p:spTree>
    <p:extLst>
      <p:ext uri="{BB962C8B-B14F-4D97-AF65-F5344CB8AC3E}">
        <p14:creationId xmlns:p14="http://schemas.microsoft.com/office/powerpoint/2010/main" val="3959749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49AC-2F64-35F4-0815-2FF4D76C6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0EAB90E1-7D3E-5366-711D-4D2DF9C5BE65}"/>
              </a:ext>
            </a:extLst>
          </p:cNvPr>
          <p:cNvSpPr/>
          <p:nvPr/>
        </p:nvSpPr>
        <p:spPr>
          <a:xfrm>
            <a:off x="117764" y="150090"/>
            <a:ext cx="232664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목표 설정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29B8E9FC-6C50-98CA-5210-8786F5DE9727}"/>
              </a:ext>
            </a:extLst>
          </p:cNvPr>
          <p:cNvSpPr/>
          <p:nvPr/>
        </p:nvSpPr>
        <p:spPr>
          <a:xfrm>
            <a:off x="10374885" y="150090"/>
            <a:ext cx="1699351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도입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B403F2C7-CFB2-C752-9D0F-456BC164ABF1}"/>
              </a:ext>
            </a:extLst>
          </p:cNvPr>
          <p:cNvSpPr/>
          <p:nvPr/>
        </p:nvSpPr>
        <p:spPr>
          <a:xfrm>
            <a:off x="7785634" y="150091"/>
            <a:ext cx="2848534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분석 및 평가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CF951B41-6CA8-6C75-A542-477996F269B6}"/>
              </a:ext>
            </a:extLst>
          </p:cNvPr>
          <p:cNvSpPr/>
          <p:nvPr/>
        </p:nvSpPr>
        <p:spPr>
          <a:xfrm>
            <a:off x="6039630" y="150091"/>
            <a:ext cx="200528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</a:rPr>
              <a:t>전처리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9EAF0D7C-C9DC-41CE-FAAC-3725DD1D9D81}"/>
              </a:ext>
            </a:extLst>
          </p:cNvPr>
          <p:cNvSpPr/>
          <p:nvPr/>
        </p:nvSpPr>
        <p:spPr>
          <a:xfrm>
            <a:off x="4599562" y="150091"/>
            <a:ext cx="1699350" cy="884382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저장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7E04CEC6-1525-36AD-6491-08FB0AA5CBF2}"/>
              </a:ext>
            </a:extLst>
          </p:cNvPr>
          <p:cNvSpPr/>
          <p:nvPr/>
        </p:nvSpPr>
        <p:spPr>
          <a:xfrm>
            <a:off x="2185128" y="150091"/>
            <a:ext cx="267371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데이터 수집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6928D23-EA08-870C-E521-DA6CA98BC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100" y="1267085"/>
            <a:ext cx="5182761" cy="544082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01F48EC-0CE2-5CAE-2A79-33F0B54A0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39" y="2513994"/>
            <a:ext cx="6439224" cy="259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31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FBF02-370B-8EEB-3ED9-DFCEBCD7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95033F4F-90DE-F058-4BCF-1E505F402C70}"/>
              </a:ext>
            </a:extLst>
          </p:cNvPr>
          <p:cNvSpPr/>
          <p:nvPr/>
        </p:nvSpPr>
        <p:spPr>
          <a:xfrm>
            <a:off x="117764" y="150090"/>
            <a:ext cx="232664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목표 설정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7E3DC743-2B58-C35E-460E-58D7955D4E3A}"/>
              </a:ext>
            </a:extLst>
          </p:cNvPr>
          <p:cNvSpPr/>
          <p:nvPr/>
        </p:nvSpPr>
        <p:spPr>
          <a:xfrm>
            <a:off x="10374885" y="150090"/>
            <a:ext cx="1699351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도입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C5992FF8-5DA5-FD5B-3255-54149DFD2CF3}"/>
              </a:ext>
            </a:extLst>
          </p:cNvPr>
          <p:cNvSpPr/>
          <p:nvPr/>
        </p:nvSpPr>
        <p:spPr>
          <a:xfrm>
            <a:off x="7785634" y="150091"/>
            <a:ext cx="2848534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분석 및 평가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5E9DAF63-DA53-89E4-FE17-009D30AFAC83}"/>
              </a:ext>
            </a:extLst>
          </p:cNvPr>
          <p:cNvSpPr/>
          <p:nvPr/>
        </p:nvSpPr>
        <p:spPr>
          <a:xfrm>
            <a:off x="6039630" y="150091"/>
            <a:ext cx="2005286" cy="884382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</a:rPr>
              <a:t>전처리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1983B6D6-1BB8-952E-D2A1-DD40C4178DBF}"/>
              </a:ext>
            </a:extLst>
          </p:cNvPr>
          <p:cNvSpPr/>
          <p:nvPr/>
        </p:nvSpPr>
        <p:spPr>
          <a:xfrm>
            <a:off x="4599562" y="150091"/>
            <a:ext cx="1699350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저장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93F7E540-EEE5-E022-4386-64B3BB2B3A95}"/>
              </a:ext>
            </a:extLst>
          </p:cNvPr>
          <p:cNvSpPr/>
          <p:nvPr/>
        </p:nvSpPr>
        <p:spPr>
          <a:xfrm>
            <a:off x="2185128" y="150091"/>
            <a:ext cx="267371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데이터 수집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4D70C0-3B6F-B230-0165-30E061B64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79" y="2570999"/>
            <a:ext cx="11645042" cy="24532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D43422-9C4E-B6F5-47C8-834CCCF7218B}"/>
              </a:ext>
            </a:extLst>
          </p:cNvPr>
          <p:cNvSpPr txBox="1"/>
          <p:nvPr/>
        </p:nvSpPr>
        <p:spPr>
          <a:xfrm>
            <a:off x="2239674" y="1366314"/>
            <a:ext cx="771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※ Pandas, </a:t>
            </a: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라이브러리를 사용하여 </a:t>
            </a:r>
            <a:r>
              <a:rPr lang="en-US" altLang="ko-KR" dirty="0"/>
              <a:t>CSV</a:t>
            </a:r>
            <a:r>
              <a:rPr lang="ko-KR" altLang="en-US" dirty="0"/>
              <a:t> 파일 출력</a:t>
            </a:r>
          </a:p>
        </p:txBody>
      </p:sp>
    </p:spTree>
    <p:extLst>
      <p:ext uri="{BB962C8B-B14F-4D97-AF65-F5344CB8AC3E}">
        <p14:creationId xmlns:p14="http://schemas.microsoft.com/office/powerpoint/2010/main" val="88115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BC4ED-4C4B-0F6E-DF0C-5B17EAA23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57B775DB-EA07-614F-675B-87D26AE32580}"/>
              </a:ext>
            </a:extLst>
          </p:cNvPr>
          <p:cNvSpPr/>
          <p:nvPr/>
        </p:nvSpPr>
        <p:spPr>
          <a:xfrm>
            <a:off x="117764" y="150090"/>
            <a:ext cx="232664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목표 설정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AD4DF75C-C892-431F-0A74-414079CB7594}"/>
              </a:ext>
            </a:extLst>
          </p:cNvPr>
          <p:cNvSpPr/>
          <p:nvPr/>
        </p:nvSpPr>
        <p:spPr>
          <a:xfrm>
            <a:off x="10374885" y="150090"/>
            <a:ext cx="1699351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도입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536E518C-DE12-1D8C-218C-E8AA16D561DB}"/>
              </a:ext>
            </a:extLst>
          </p:cNvPr>
          <p:cNvSpPr/>
          <p:nvPr/>
        </p:nvSpPr>
        <p:spPr>
          <a:xfrm>
            <a:off x="7785634" y="150091"/>
            <a:ext cx="2848534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분석 및 평가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47AF9C85-1BFD-2529-2859-CFE6A57CE74B}"/>
              </a:ext>
            </a:extLst>
          </p:cNvPr>
          <p:cNvSpPr/>
          <p:nvPr/>
        </p:nvSpPr>
        <p:spPr>
          <a:xfrm>
            <a:off x="6039630" y="150091"/>
            <a:ext cx="2005286" cy="884382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</a:rPr>
              <a:t>전처리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F2654F7B-1464-AF8C-D1FE-4AA20F4A818E}"/>
              </a:ext>
            </a:extLst>
          </p:cNvPr>
          <p:cNvSpPr/>
          <p:nvPr/>
        </p:nvSpPr>
        <p:spPr>
          <a:xfrm>
            <a:off x="4599562" y="150091"/>
            <a:ext cx="1699350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저장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1BC77484-88D3-57F5-3741-290F16312834}"/>
              </a:ext>
            </a:extLst>
          </p:cNvPr>
          <p:cNvSpPr/>
          <p:nvPr/>
        </p:nvSpPr>
        <p:spPr>
          <a:xfrm>
            <a:off x="2185128" y="150091"/>
            <a:ext cx="267371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데이터 수집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ED2E0D-D11A-315B-5D70-DD767D7ED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69" y="2018166"/>
            <a:ext cx="7376329" cy="46897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3FACDC-15C2-70A7-A527-B25E8F24A1A0}"/>
              </a:ext>
            </a:extLst>
          </p:cNvPr>
          <p:cNvSpPr txBox="1"/>
          <p:nvPr/>
        </p:nvSpPr>
        <p:spPr>
          <a:xfrm>
            <a:off x="2304328" y="1366314"/>
            <a:ext cx="7583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※ </a:t>
            </a:r>
            <a:r>
              <a:rPr lang="ko-KR" altLang="en-US" dirty="0" err="1"/>
              <a:t>시군구</a:t>
            </a:r>
            <a:r>
              <a:rPr lang="ko-KR" altLang="en-US" dirty="0"/>
              <a:t> 성별 연령별 주요 정신질환 통계 </a:t>
            </a:r>
            <a:r>
              <a:rPr lang="en-US" altLang="ko-KR" dirty="0"/>
              <a:t>(2018~2022).csv </a:t>
            </a:r>
            <a:r>
              <a:rPr lang="ko-KR" altLang="en-US" dirty="0"/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99166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AAE32-299A-61B0-217E-B825C0EF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62474F17-AC8A-4D6A-B992-016DDD995E56}"/>
              </a:ext>
            </a:extLst>
          </p:cNvPr>
          <p:cNvSpPr/>
          <p:nvPr/>
        </p:nvSpPr>
        <p:spPr>
          <a:xfrm>
            <a:off x="117764" y="150090"/>
            <a:ext cx="232664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목표 설정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969B90F2-F8D5-8B5E-4BF3-2E66E125B599}"/>
              </a:ext>
            </a:extLst>
          </p:cNvPr>
          <p:cNvSpPr/>
          <p:nvPr/>
        </p:nvSpPr>
        <p:spPr>
          <a:xfrm>
            <a:off x="10374885" y="150090"/>
            <a:ext cx="1699351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도입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5348A2DF-96EA-44B3-605F-268417CBB7E2}"/>
              </a:ext>
            </a:extLst>
          </p:cNvPr>
          <p:cNvSpPr/>
          <p:nvPr/>
        </p:nvSpPr>
        <p:spPr>
          <a:xfrm>
            <a:off x="7785634" y="150091"/>
            <a:ext cx="2848534" cy="884382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분석 및 평가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B626C5AC-ACFC-A25A-0A9D-B852F77B6836}"/>
              </a:ext>
            </a:extLst>
          </p:cNvPr>
          <p:cNvSpPr/>
          <p:nvPr/>
        </p:nvSpPr>
        <p:spPr>
          <a:xfrm>
            <a:off x="6039630" y="150091"/>
            <a:ext cx="200528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</a:rPr>
              <a:t>전처리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5BF33B61-679C-4660-A26A-B086A724EF34}"/>
              </a:ext>
            </a:extLst>
          </p:cNvPr>
          <p:cNvSpPr/>
          <p:nvPr/>
        </p:nvSpPr>
        <p:spPr>
          <a:xfrm>
            <a:off x="4599562" y="150091"/>
            <a:ext cx="1699350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저장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E12FC914-BBB5-6DF4-4713-702C420B7657}"/>
              </a:ext>
            </a:extLst>
          </p:cNvPr>
          <p:cNvSpPr/>
          <p:nvPr/>
        </p:nvSpPr>
        <p:spPr>
          <a:xfrm>
            <a:off x="2185128" y="150091"/>
            <a:ext cx="267371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데이터 수집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B71C1C-8605-D1F7-57DB-558EBF37C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1420755"/>
            <a:ext cx="10545647" cy="379147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EDE20BF-66DD-E913-DED8-C72F4F108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34" y="5437245"/>
            <a:ext cx="10431331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67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AA84E-2D9D-525F-5E43-B4DCF1D6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FEED61ED-3114-8DF6-7300-C6F828866D4F}"/>
              </a:ext>
            </a:extLst>
          </p:cNvPr>
          <p:cNvSpPr/>
          <p:nvPr/>
        </p:nvSpPr>
        <p:spPr>
          <a:xfrm>
            <a:off x="117764" y="150090"/>
            <a:ext cx="232664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목표 설정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DE6BB190-2CF3-D8B6-06E1-84BFEA537BEB}"/>
              </a:ext>
            </a:extLst>
          </p:cNvPr>
          <p:cNvSpPr/>
          <p:nvPr/>
        </p:nvSpPr>
        <p:spPr>
          <a:xfrm>
            <a:off x="10374885" y="150090"/>
            <a:ext cx="1699351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도입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C26C1384-7713-7420-3BDA-BD09AC3D916B}"/>
              </a:ext>
            </a:extLst>
          </p:cNvPr>
          <p:cNvSpPr/>
          <p:nvPr/>
        </p:nvSpPr>
        <p:spPr>
          <a:xfrm>
            <a:off x="7785634" y="150091"/>
            <a:ext cx="2848534" cy="884382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분석 및 평가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4477FA29-55E5-AC2A-0186-AEADD787526F}"/>
              </a:ext>
            </a:extLst>
          </p:cNvPr>
          <p:cNvSpPr/>
          <p:nvPr/>
        </p:nvSpPr>
        <p:spPr>
          <a:xfrm>
            <a:off x="6039630" y="150091"/>
            <a:ext cx="200528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</a:rPr>
              <a:t>전처리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2742840F-17D0-8807-0F06-74BBB3B5AD65}"/>
              </a:ext>
            </a:extLst>
          </p:cNvPr>
          <p:cNvSpPr/>
          <p:nvPr/>
        </p:nvSpPr>
        <p:spPr>
          <a:xfrm>
            <a:off x="4599562" y="150091"/>
            <a:ext cx="1699350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저장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F31B1448-F3BE-6C90-C2B0-4E4453390CFF}"/>
              </a:ext>
            </a:extLst>
          </p:cNvPr>
          <p:cNvSpPr/>
          <p:nvPr/>
        </p:nvSpPr>
        <p:spPr>
          <a:xfrm>
            <a:off x="2185128" y="150091"/>
            <a:ext cx="267371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데이터 수집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1E00356-D770-5EAD-0F1E-F206A9F09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47" y="2073443"/>
            <a:ext cx="11241965" cy="40410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BAF13E-B13D-B067-0C76-195AC0ED0673}"/>
              </a:ext>
            </a:extLst>
          </p:cNvPr>
          <p:cNvSpPr txBox="1"/>
          <p:nvPr/>
        </p:nvSpPr>
        <p:spPr>
          <a:xfrm>
            <a:off x="3620366" y="1366314"/>
            <a:ext cx="535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※ </a:t>
            </a:r>
            <a:r>
              <a:rPr lang="ko-KR" altLang="en-US" dirty="0"/>
              <a:t>연도별 정신질환 환자수 그래프화</a:t>
            </a:r>
          </a:p>
        </p:txBody>
      </p:sp>
    </p:spTree>
    <p:extLst>
      <p:ext uri="{BB962C8B-B14F-4D97-AF65-F5344CB8AC3E}">
        <p14:creationId xmlns:p14="http://schemas.microsoft.com/office/powerpoint/2010/main" val="2111677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6BCD4-CF93-832B-3080-57CA2A1A5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42CB6E85-137C-D3D5-48A5-51A04E26D9E5}"/>
              </a:ext>
            </a:extLst>
          </p:cNvPr>
          <p:cNvSpPr/>
          <p:nvPr/>
        </p:nvSpPr>
        <p:spPr>
          <a:xfrm>
            <a:off x="117764" y="150090"/>
            <a:ext cx="232664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목표 설정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85A7E39D-7C89-B246-D2A3-1F84A03DBD54}"/>
              </a:ext>
            </a:extLst>
          </p:cNvPr>
          <p:cNvSpPr/>
          <p:nvPr/>
        </p:nvSpPr>
        <p:spPr>
          <a:xfrm>
            <a:off x="10374885" y="150090"/>
            <a:ext cx="1699351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도입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ADEB3617-3EC7-B0CC-405A-12C7BB7060DE}"/>
              </a:ext>
            </a:extLst>
          </p:cNvPr>
          <p:cNvSpPr/>
          <p:nvPr/>
        </p:nvSpPr>
        <p:spPr>
          <a:xfrm>
            <a:off x="7785634" y="150091"/>
            <a:ext cx="2848534" cy="884382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분석 및 평가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68FC16AF-1ECA-1EDE-2509-B33EA186B689}"/>
              </a:ext>
            </a:extLst>
          </p:cNvPr>
          <p:cNvSpPr/>
          <p:nvPr/>
        </p:nvSpPr>
        <p:spPr>
          <a:xfrm>
            <a:off x="6039630" y="150091"/>
            <a:ext cx="200528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</a:rPr>
              <a:t>전처리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D0369C59-9E2E-B7BC-68AD-5FB5F2A52648}"/>
              </a:ext>
            </a:extLst>
          </p:cNvPr>
          <p:cNvSpPr/>
          <p:nvPr/>
        </p:nvSpPr>
        <p:spPr>
          <a:xfrm>
            <a:off x="4599562" y="150091"/>
            <a:ext cx="1699350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저장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7F808DE4-D04C-973F-1103-70F13F3815FD}"/>
              </a:ext>
            </a:extLst>
          </p:cNvPr>
          <p:cNvSpPr/>
          <p:nvPr/>
        </p:nvSpPr>
        <p:spPr>
          <a:xfrm>
            <a:off x="2185128" y="150091"/>
            <a:ext cx="267371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데이터 수집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7D8DFD-3007-0383-6E3C-630A6E672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59" y="1895423"/>
            <a:ext cx="10688542" cy="48774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75E441-EA12-7FAF-D141-96213699AACC}"/>
              </a:ext>
            </a:extLst>
          </p:cNvPr>
          <p:cNvSpPr txBox="1"/>
          <p:nvPr/>
        </p:nvSpPr>
        <p:spPr>
          <a:xfrm>
            <a:off x="3620366" y="1280282"/>
            <a:ext cx="535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※ </a:t>
            </a:r>
            <a:r>
              <a:rPr lang="ko-KR" altLang="en-US" dirty="0"/>
              <a:t>연도별 정신질환 환자수 그래프</a:t>
            </a:r>
          </a:p>
        </p:txBody>
      </p:sp>
    </p:spTree>
    <p:extLst>
      <p:ext uri="{BB962C8B-B14F-4D97-AF65-F5344CB8AC3E}">
        <p14:creationId xmlns:p14="http://schemas.microsoft.com/office/powerpoint/2010/main" val="330339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2A4FA-4EB4-0B28-DA58-47888F0AA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51AE47B2-9E3F-4A52-D581-FFAA9860AE04}"/>
              </a:ext>
            </a:extLst>
          </p:cNvPr>
          <p:cNvSpPr/>
          <p:nvPr/>
        </p:nvSpPr>
        <p:spPr>
          <a:xfrm>
            <a:off x="117764" y="150090"/>
            <a:ext cx="232664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목표 설정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907A8CFF-11A4-3B1C-DD79-C8480B499569}"/>
              </a:ext>
            </a:extLst>
          </p:cNvPr>
          <p:cNvSpPr/>
          <p:nvPr/>
        </p:nvSpPr>
        <p:spPr>
          <a:xfrm>
            <a:off x="10374885" y="150090"/>
            <a:ext cx="1699351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도입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0859FFA2-C766-F726-A37A-DA3B43C8A3B4}"/>
              </a:ext>
            </a:extLst>
          </p:cNvPr>
          <p:cNvSpPr/>
          <p:nvPr/>
        </p:nvSpPr>
        <p:spPr>
          <a:xfrm>
            <a:off x="7785634" y="150091"/>
            <a:ext cx="2848534" cy="884382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분석 및 평가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F268EE96-E314-0384-281E-FA2E82823AA3}"/>
              </a:ext>
            </a:extLst>
          </p:cNvPr>
          <p:cNvSpPr/>
          <p:nvPr/>
        </p:nvSpPr>
        <p:spPr>
          <a:xfrm>
            <a:off x="6039630" y="150091"/>
            <a:ext cx="200528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</a:rPr>
              <a:t>전처리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C4E19E98-C11E-37C8-1A7A-CB06F731FA03}"/>
              </a:ext>
            </a:extLst>
          </p:cNvPr>
          <p:cNvSpPr/>
          <p:nvPr/>
        </p:nvSpPr>
        <p:spPr>
          <a:xfrm>
            <a:off x="4599562" y="150091"/>
            <a:ext cx="1699350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저장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34C1BEAB-943D-D298-22AC-A34E5F26CFD0}"/>
              </a:ext>
            </a:extLst>
          </p:cNvPr>
          <p:cNvSpPr/>
          <p:nvPr/>
        </p:nvSpPr>
        <p:spPr>
          <a:xfrm>
            <a:off x="2185128" y="150091"/>
            <a:ext cx="267371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데이터 수집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3580A8-CBCA-89A8-1D31-7F2620FC58E9}"/>
              </a:ext>
            </a:extLst>
          </p:cNvPr>
          <p:cNvSpPr txBox="1"/>
          <p:nvPr/>
        </p:nvSpPr>
        <p:spPr>
          <a:xfrm>
            <a:off x="364025" y="3999347"/>
            <a:ext cx="11606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전체적으로 정신질환 환자수가 증가하며</a:t>
            </a:r>
            <a:r>
              <a:rPr lang="en-US" altLang="ko-KR" dirty="0"/>
              <a:t>, </a:t>
            </a:r>
            <a:r>
              <a:rPr lang="ko-KR" altLang="en-US" dirty="0"/>
              <a:t>특히 </a:t>
            </a:r>
            <a:r>
              <a:rPr lang="en-US" altLang="ko-KR" dirty="0"/>
              <a:t>2021</a:t>
            </a:r>
            <a:r>
              <a:rPr lang="ko-KR" altLang="en-US" dirty="0"/>
              <a:t>년과 </a:t>
            </a:r>
            <a:r>
              <a:rPr lang="en-US" altLang="ko-KR" dirty="0"/>
              <a:t>2022</a:t>
            </a:r>
            <a:r>
              <a:rPr lang="ko-KR" altLang="en-US" dirty="0"/>
              <a:t>년은 불안장애</a:t>
            </a:r>
            <a:r>
              <a:rPr lang="en-US" altLang="ko-KR" dirty="0"/>
              <a:t>, </a:t>
            </a:r>
            <a:r>
              <a:rPr lang="ko-KR" altLang="en-US" dirty="0"/>
              <a:t>우울증 환자수가 대폭 증가했다</a:t>
            </a:r>
            <a:r>
              <a:rPr lang="en-US" altLang="ko-KR" dirty="0"/>
              <a:t>. </a:t>
            </a:r>
            <a:r>
              <a:rPr lang="ko-KR" altLang="en-US" dirty="0"/>
              <a:t>이 때는 코로나</a:t>
            </a:r>
            <a:r>
              <a:rPr lang="en-US" altLang="ko-KR" dirty="0"/>
              <a:t>19</a:t>
            </a:r>
            <a:r>
              <a:rPr lang="ko-KR" altLang="en-US" dirty="0"/>
              <a:t>의 유행이 있었기 때문에</a:t>
            </a:r>
            <a:r>
              <a:rPr lang="en-US" altLang="ko-KR" dirty="0"/>
              <a:t>, </a:t>
            </a:r>
            <a:r>
              <a:rPr lang="ko-KR" altLang="en-US" dirty="0"/>
              <a:t>사회적 거리두기로 인해 사회적으로 고립되어 정신 건강에 부정적인 영향을 끼친 것으로 보인다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A2B4E-C781-D737-17C8-BE3AC44F0EAC}"/>
              </a:ext>
            </a:extLst>
          </p:cNvPr>
          <p:cNvSpPr txBox="1"/>
          <p:nvPr/>
        </p:nvSpPr>
        <p:spPr>
          <a:xfrm>
            <a:off x="364025" y="5290247"/>
            <a:ext cx="11606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하지만 환자 수가 많아진다는 것을 반대로 생각해보면 환자들이 자신이 질환을 겪고 있다는 것을 인지하고 </a:t>
            </a:r>
            <a:endParaRPr lang="en-US" altLang="ko-KR" dirty="0"/>
          </a:p>
          <a:p>
            <a:r>
              <a:rPr lang="ko-KR" altLang="en-US" dirty="0"/>
              <a:t>병원을 방문하는 빈도수가 많아지고 있다는 것이다</a:t>
            </a:r>
            <a:r>
              <a:rPr lang="en-US" altLang="ko-KR" dirty="0"/>
              <a:t>. </a:t>
            </a:r>
            <a:r>
              <a:rPr lang="ko-KR" altLang="en-US" dirty="0"/>
              <a:t>또한 과거에는 정신 질환에 대해 부정적인 시선이 많았지만</a:t>
            </a:r>
            <a:r>
              <a:rPr lang="en-US" altLang="ko-KR" dirty="0"/>
              <a:t>, </a:t>
            </a:r>
            <a:r>
              <a:rPr lang="ko-KR" altLang="en-US" dirty="0"/>
              <a:t>현재는 인식이 많이 개선된 상태이기 때문에 치료를 원하는 환자가 증가하게 되었다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E0DD88-56D7-3FD4-8008-46485DB077C9}"/>
              </a:ext>
            </a:extLst>
          </p:cNvPr>
          <p:cNvSpPr txBox="1"/>
          <p:nvPr/>
        </p:nvSpPr>
        <p:spPr>
          <a:xfrm>
            <a:off x="364025" y="1715594"/>
            <a:ext cx="6308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※ 2020</a:t>
            </a:r>
            <a:r>
              <a:rPr lang="ko-KR" altLang="en-US" dirty="0"/>
              <a:t>년</a:t>
            </a:r>
            <a:r>
              <a:rPr lang="en-US" altLang="ko-KR" dirty="0"/>
              <a:t> -&gt; 2021</a:t>
            </a:r>
            <a:r>
              <a:rPr lang="ko-KR" altLang="en-US" dirty="0"/>
              <a:t>년 불안장애 환자 </a:t>
            </a:r>
            <a:r>
              <a:rPr lang="ko-KR" altLang="en-US" dirty="0" err="1"/>
              <a:t>증가수</a:t>
            </a:r>
            <a:r>
              <a:rPr lang="en-US" altLang="ko-KR" dirty="0"/>
              <a:t> : 87,781</a:t>
            </a:r>
            <a:r>
              <a:rPr lang="ko-KR" altLang="en-US" dirty="0"/>
              <a:t>명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8FFA8C-9294-A50B-75FD-22D61B53E330}"/>
              </a:ext>
            </a:extLst>
          </p:cNvPr>
          <p:cNvSpPr txBox="1"/>
          <p:nvPr/>
        </p:nvSpPr>
        <p:spPr>
          <a:xfrm>
            <a:off x="364025" y="2157122"/>
            <a:ext cx="6308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※ 2021</a:t>
            </a:r>
            <a:r>
              <a:rPr lang="ko-KR" altLang="en-US" dirty="0"/>
              <a:t>년</a:t>
            </a:r>
            <a:r>
              <a:rPr lang="en-US" altLang="ko-KR" dirty="0"/>
              <a:t> -&gt; 2022</a:t>
            </a:r>
            <a:r>
              <a:rPr lang="ko-KR" altLang="en-US" dirty="0"/>
              <a:t>년 우울증 환자 </a:t>
            </a:r>
            <a:r>
              <a:rPr lang="ko-KR" altLang="en-US" dirty="0" err="1"/>
              <a:t>증가수</a:t>
            </a:r>
            <a:r>
              <a:rPr lang="en-US" altLang="ko-KR" dirty="0"/>
              <a:t> : 96,099</a:t>
            </a:r>
            <a:r>
              <a:rPr lang="ko-KR" altLang="en-US" dirty="0"/>
              <a:t>명</a:t>
            </a:r>
            <a:endParaRPr lang="en-US" altLang="ko-KR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C1E1157-0FC3-47E2-5DFA-415424053BB7}"/>
              </a:ext>
            </a:extLst>
          </p:cNvPr>
          <p:cNvGrpSpPr/>
          <p:nvPr/>
        </p:nvGrpSpPr>
        <p:grpSpPr>
          <a:xfrm>
            <a:off x="6871094" y="1388978"/>
            <a:ext cx="5003406" cy="1418877"/>
            <a:chOff x="8236224" y="1989109"/>
            <a:chExt cx="3829584" cy="108600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22D60E8-2CB2-83DB-A9A9-7C76C7DD5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83961" y="1989109"/>
              <a:ext cx="3381847" cy="10860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D30FE713-BA89-F1B0-1E82-318A4FC0A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36224" y="2160583"/>
              <a:ext cx="447737" cy="9145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931034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0E4FC-1A77-ACAB-2C3C-14BAF665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B1C41822-DC8B-979F-8250-086F99CC453D}"/>
              </a:ext>
            </a:extLst>
          </p:cNvPr>
          <p:cNvSpPr/>
          <p:nvPr/>
        </p:nvSpPr>
        <p:spPr>
          <a:xfrm>
            <a:off x="117764" y="150090"/>
            <a:ext cx="232664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목표 설정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19CF217D-C3C3-6E0C-F7E0-6D4244EDDE40}"/>
              </a:ext>
            </a:extLst>
          </p:cNvPr>
          <p:cNvSpPr/>
          <p:nvPr/>
        </p:nvSpPr>
        <p:spPr>
          <a:xfrm>
            <a:off x="10374885" y="150090"/>
            <a:ext cx="1699351" cy="884382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도입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BDCC08A9-9440-7320-4488-2D7A86D4C09A}"/>
              </a:ext>
            </a:extLst>
          </p:cNvPr>
          <p:cNvSpPr/>
          <p:nvPr/>
        </p:nvSpPr>
        <p:spPr>
          <a:xfrm>
            <a:off x="7785634" y="150091"/>
            <a:ext cx="2848534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분석 및 평가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4E3EC07F-D363-E72B-C5CB-4F1AF2FBF8B7}"/>
              </a:ext>
            </a:extLst>
          </p:cNvPr>
          <p:cNvSpPr/>
          <p:nvPr/>
        </p:nvSpPr>
        <p:spPr>
          <a:xfrm>
            <a:off x="6039630" y="150091"/>
            <a:ext cx="200528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>
                <a:solidFill>
                  <a:schemeClr val="tx1"/>
                </a:solidFill>
              </a:rPr>
              <a:t>전처리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6E0B225C-7DC9-AA32-9BBD-5FF1D5C59FFB}"/>
              </a:ext>
            </a:extLst>
          </p:cNvPr>
          <p:cNvSpPr/>
          <p:nvPr/>
        </p:nvSpPr>
        <p:spPr>
          <a:xfrm>
            <a:off x="4599562" y="150091"/>
            <a:ext cx="1699350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저장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41D71EF8-9E41-7CAD-B226-A5CFB8424761}"/>
              </a:ext>
            </a:extLst>
          </p:cNvPr>
          <p:cNvSpPr/>
          <p:nvPr/>
        </p:nvSpPr>
        <p:spPr>
          <a:xfrm>
            <a:off x="2185128" y="150091"/>
            <a:ext cx="2673716" cy="884382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데이터 수집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9ACE7-4739-D99B-EA12-9451631E7C1E}"/>
              </a:ext>
            </a:extLst>
          </p:cNvPr>
          <p:cNvSpPr txBox="1"/>
          <p:nvPr/>
        </p:nvSpPr>
        <p:spPr>
          <a:xfrm>
            <a:off x="364025" y="2318329"/>
            <a:ext cx="11347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학교</a:t>
            </a:r>
            <a:r>
              <a:rPr lang="en-US" altLang="ko-KR" dirty="0"/>
              <a:t>, </a:t>
            </a:r>
            <a:r>
              <a:rPr lang="ko-KR" altLang="en-US" dirty="0"/>
              <a:t>직장</a:t>
            </a:r>
            <a:r>
              <a:rPr lang="en-US" altLang="ko-KR" dirty="0"/>
              <a:t>, </a:t>
            </a:r>
            <a:r>
              <a:rPr lang="ko-KR" altLang="en-US" dirty="0"/>
              <a:t>지역 사회에서 정신 건강에 대한 교육 프로그램을 도입하여 사람들이 자신의 증상을 인식하고</a:t>
            </a:r>
            <a:r>
              <a:rPr lang="en-US" altLang="ko-KR" dirty="0"/>
              <a:t>, </a:t>
            </a:r>
            <a:r>
              <a:rPr lang="ko-KR" altLang="en-US" dirty="0"/>
              <a:t>도움을 요청할 수 있도록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4AF840-86D6-EC80-0834-F2360278B48E}"/>
              </a:ext>
            </a:extLst>
          </p:cNvPr>
          <p:cNvSpPr txBox="1"/>
          <p:nvPr/>
        </p:nvSpPr>
        <p:spPr>
          <a:xfrm>
            <a:off x="364024" y="4276225"/>
            <a:ext cx="1171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지역 사회에 상담 센터나 건강 복지 지원 센터에서 다양한 캠페인을 진행하며 센터의 접근성을 높이도록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B6898D-9047-B1A6-08E8-AA5790D95CC6}"/>
              </a:ext>
            </a:extLst>
          </p:cNvPr>
          <p:cNvSpPr txBox="1"/>
          <p:nvPr/>
        </p:nvSpPr>
        <p:spPr>
          <a:xfrm>
            <a:off x="452294" y="1394981"/>
            <a:ext cx="2771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※ </a:t>
            </a:r>
            <a:r>
              <a:rPr lang="ko-KR" altLang="en-US" sz="2400" dirty="0"/>
              <a:t>도입 </a:t>
            </a:r>
            <a:r>
              <a:rPr lang="en-US" altLang="ko-KR" sz="2400" dirty="0"/>
              <a:t>(</a:t>
            </a:r>
            <a:r>
              <a:rPr lang="ko-KR" altLang="en-US" sz="2400" dirty="0"/>
              <a:t>해결책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890498-3CB6-CD02-26BB-63AE51DCB4C2}"/>
              </a:ext>
            </a:extLst>
          </p:cNvPr>
          <p:cNvSpPr txBox="1"/>
          <p:nvPr/>
        </p:nvSpPr>
        <p:spPr>
          <a:xfrm>
            <a:off x="364024" y="3297277"/>
            <a:ext cx="11347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정신질환을 가진 사람들의 권리를 보호하고</a:t>
            </a:r>
            <a:r>
              <a:rPr lang="en-US" altLang="ko-KR" dirty="0"/>
              <a:t>, </a:t>
            </a:r>
            <a:r>
              <a:rPr lang="ko-KR" altLang="en-US" dirty="0"/>
              <a:t>차별을 방지할 수 있는 시스템을 마련하도록 한다</a:t>
            </a:r>
            <a:r>
              <a:rPr lang="en-US" altLang="ko-KR" dirty="0"/>
              <a:t>. </a:t>
            </a:r>
            <a:r>
              <a:rPr lang="ko-KR" altLang="en-US" dirty="0"/>
              <a:t>정신질환을 앓고 있는 사람들은 직장 내</a:t>
            </a:r>
            <a:r>
              <a:rPr lang="en-US" altLang="ko-KR" dirty="0"/>
              <a:t>, </a:t>
            </a:r>
            <a:r>
              <a:rPr lang="ko-KR" altLang="en-US" dirty="0"/>
              <a:t>학교 내에서 차별을 받을 수 있기 때문에 법적으로 보호받을 수 있어야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D4C99E1-49B6-508C-236C-B2AB55133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022" y="5518793"/>
            <a:ext cx="3054396" cy="118911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52DB2EC-5AF4-7B48-A28B-B6CEA0C60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98" y="5518793"/>
            <a:ext cx="3434403" cy="1053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A1CDAB4-4285-EE98-18E7-71E7907059B0}"/>
              </a:ext>
            </a:extLst>
          </p:cNvPr>
          <p:cNvSpPr txBox="1"/>
          <p:nvPr/>
        </p:nvSpPr>
        <p:spPr>
          <a:xfrm>
            <a:off x="7425418" y="5858243"/>
            <a:ext cx="464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사진 출처 </a:t>
            </a:r>
            <a:r>
              <a:rPr lang="en-US" altLang="ko-KR" dirty="0"/>
              <a:t>: </a:t>
            </a:r>
            <a:r>
              <a:rPr lang="ko-KR" altLang="en-US" dirty="0"/>
              <a:t>보건복지부 국립정신건강센터</a:t>
            </a:r>
            <a:r>
              <a:rPr lang="en-US" altLang="ko-KR" dirty="0"/>
              <a:t>https://www.ncmh.go.kr/ncmh/main.do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151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443</Words>
  <Application>Microsoft Office PowerPoint</Application>
  <PresentationFormat>와이드스크린</PresentationFormat>
  <Paragraphs>78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system-ui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임재윤</dc:creator>
  <cp:lastModifiedBy>임재윤</cp:lastModifiedBy>
  <cp:revision>1</cp:revision>
  <dcterms:created xsi:type="dcterms:W3CDTF">2024-12-06T09:24:58Z</dcterms:created>
  <dcterms:modified xsi:type="dcterms:W3CDTF">2024-12-06T13:42:55Z</dcterms:modified>
</cp:coreProperties>
</file>